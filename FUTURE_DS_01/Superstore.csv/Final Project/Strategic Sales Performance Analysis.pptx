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381C24-167E-4C06-9DDC-6B45D4180ED0}">
  <a:tblStyle styleId="{BC381C24-167E-4C06-9DDC-6B45D4180ED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66800" y="2226171"/>
            <a:ext cx="1108138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Strategic Sales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Performance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66800" y="3757612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Executive Data Review: Superstore Q1 2026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Profitability Optimization &amp; Market Risk Assessment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0"/>
            <a:ext cx="90651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9432"/>
            <a:ext cx="5238750" cy="2564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99432"/>
            <a:ext cx="5238750" cy="256401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989957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Growth Highlights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532882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Technology remains our primary profit engine, generating over $145,000 in net profit. Profit margins in Office Supplies are strong, driven by high-volume, low-shipping items like Paper and Labels.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2989957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Risks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532882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Furniture is currently a net drain on resources. Heavy losses in the "Tables" sub-category, particularly in the East Region, are offsetting gains made by our core high-performance divisions.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SUMMARY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5715000" y="2669827"/>
            <a:ext cx="762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95275" y="3012727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Product Category Performance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3965227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Evaluating the gap between Sales Volume and Net Profitability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2586037" y="4768155"/>
            <a:ext cx="7019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Technology generates nearly 8x the profit of Furniture, despite having comparable sales volume.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CATEGORY PROFIT RANKING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1250"/>
            <a:ext cx="5238750" cy="394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571500" y="19112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Operational Challenges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857250" y="246274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52500" y="246370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Logistics: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Bulky dimensions lead to excessive shipping and storage overheads.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57250" y="301132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952500" y="3012281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Margin Erosion: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 average discounts (20%+) are required to move inventory.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57250" y="355990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952500" y="3560861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Table Losses: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"Tables" sub-category alone lost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$17,725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globally this quarter.</a:t>
            </a:r>
            <a:endParaRPr/>
          </a:p>
        </p:txBody>
      </p:sp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11250"/>
            <a:ext cx="5238750" cy="39117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FURNITURE PROFITABILITY GAP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/>
          <p:nvPr/>
        </p:nvSpPr>
        <p:spPr>
          <a:xfrm>
            <a:off x="5715000" y="2487066"/>
            <a:ext cx="762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295275" y="2829966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"Discount Trap" Analysis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2286000" y="3687216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Investigating the inverse relationship between Pricing Strategy and Bottom-line Results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14576"/>
            <a:ext cx="495300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762000" y="762000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DISCOUNT THRESHOLD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71500" y="7620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571500" y="1666875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regression analysis identifies a critical profitability threshold at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20% discount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71500" y="2358330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Transactions exceeding 25% discount show a 90% probability of a net loss. The "Death Zone" (50%+ discount) accounts for the vast majority of Furniture losses.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00100" y="3705076"/>
            <a:ext cx="4533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Finding: Aggressive discounting does not drive sustainable volume; it drives capital erosion.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5715000" y="2669827"/>
            <a:ext cx="762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295275" y="3012727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Regional Deep-Dive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2429650" y="3949602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Isolating Geographical Profit Craters across the Superstore Network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3157537" y="5101530"/>
            <a:ext cx="5876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43F5E"/>
                </a:solidFill>
                <a:latin typeface="Lato"/>
                <a:ea typeface="Lato"/>
                <a:cs typeface="Lato"/>
                <a:sym typeface="Lato"/>
              </a:rPr>
              <a:t>The East Region is responsible for 62% of all global losses in the Table category.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GLOBAL TABLE PROFITS BY REGION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p22"/>
          <p:cNvGraphicFramePr/>
          <p:nvPr/>
        </p:nvGraphicFramePr>
        <p:xfrm>
          <a:off x="571500" y="23184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{BC381C24-167E-4C06-9DDC-6B45D4180ED0}</a:tableStyleId>
              </a:tblPr>
              <a:tblGrid>
                <a:gridCol w="1860050"/>
                <a:gridCol w="2827275"/>
                <a:gridCol w="3050525"/>
                <a:gridCol w="3311125"/>
              </a:tblGrid>
              <a:tr h="62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Sub-Category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Profit Loss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New York 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43F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-$3,542.72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Philadelphia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43F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-$2,588.75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Lorain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43F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-$713.43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Buffalo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43F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-$517.03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22"/>
          <p:cNvSpPr/>
          <p:nvPr/>
        </p:nvSpPr>
        <p:spPr>
          <a:xfrm>
            <a:off x="571500" y="3549997"/>
            <a:ext cx="18600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2431553" y="3549997"/>
            <a:ext cx="2827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5258841" y="3549997"/>
            <a:ext cx="3050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8309371" y="3549997"/>
            <a:ext cx="3311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571500" y="4176712"/>
            <a:ext cx="18600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2431553" y="4176712"/>
            <a:ext cx="2827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258841" y="4176712"/>
            <a:ext cx="3050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8309371" y="4176712"/>
            <a:ext cx="3311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571500" y="4803427"/>
            <a:ext cx="18600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2431553" y="4803427"/>
            <a:ext cx="2827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5258841" y="4803427"/>
            <a:ext cx="3050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8309371" y="4803427"/>
            <a:ext cx="3311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571500" y="5430142"/>
            <a:ext cx="18600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2431553" y="5430142"/>
            <a:ext cx="2827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258841" y="5430142"/>
            <a:ext cx="3050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8309371" y="5430142"/>
            <a:ext cx="3311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GROUND ZERO: WORST PERFORMING CITIES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1307"/>
            <a:ext cx="3492549" cy="3040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61307"/>
            <a:ext cx="3492549" cy="3040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61307"/>
            <a:ext cx="3492549" cy="304026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857250" y="3332857"/>
            <a:ext cx="306710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Discount Caps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857250" y="3875782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 a 15% system-level cap on Furniture discounts. Any exceptions must undergo managerial approval for ROI validation.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4635549" y="3332857"/>
            <a:ext cx="306710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Logistics Audit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4635549" y="3875782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Review East Coast fulfillment partnerships. High urban delivery costs in NYC/Philly are cannibalizing existing margins.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8413849" y="3332857"/>
            <a:ext cx="306710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Category Pivot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8413849" y="3875782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Reallocate 20% of Furniture marketing budget toward high-performing Technology accessories to maximize total Q2 revenue.</a:t>
            </a:r>
            <a:endParaRPr/>
          </a:p>
        </p:txBody>
      </p:sp>
      <p:pic>
        <p:nvPicPr>
          <p:cNvPr descr="image.png" id="209" name="Google Shape;20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232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72325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72325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ACTIONABLE RECOMMENDATIONS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2095500" y="2020341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2286000" y="335384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Analytical review complete. Data sources: Superstore Inventory &amp; Sales Ledger 2026.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2286000" y="4656683"/>
            <a:ext cx="762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PRESENTED BY: FUTURE INTERN</a:t>
            </a:r>
            <a:r>
              <a:rPr b="1" lang="en-US" sz="12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- TIDIMATSO MALATJI (Data Analyst)</a:t>
            </a:r>
            <a:endParaRPr/>
          </a:p>
        </p:txBody>
      </p:sp>
      <p:pic>
        <p:nvPicPr>
          <p:cNvPr descr="image.png" id="222" name="Google Shape;2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486400"/>
            <a:ext cx="12192000" cy="815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